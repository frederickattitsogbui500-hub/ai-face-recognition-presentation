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840D80-2D2B-47EC-8DF7-615D9AB95AF6}" v="1" dt="2026-08-11T01:58:05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5" d="100"/>
          <a:sy n="55" d="100"/>
        </p:scale>
        <p:origin x="1714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ck walker" userId="2e88f26ebad291f4" providerId="LiveId" clId="{798D439B-82FC-4FC9-9E6D-A3C32146FF02}"/>
    <pc:docChg chg="undo custSel modSld">
      <pc:chgData name="frederick walker" userId="2e88f26ebad291f4" providerId="LiveId" clId="{798D439B-82FC-4FC9-9E6D-A3C32146FF02}" dt="2026-08-11T17:00:48.710" v="123" actId="403"/>
      <pc:docMkLst>
        <pc:docMk/>
      </pc:docMkLst>
      <pc:sldChg chg="modSp mod">
        <pc:chgData name="frederick walker" userId="2e88f26ebad291f4" providerId="LiveId" clId="{798D439B-82FC-4FC9-9E6D-A3C32146FF02}" dt="2026-08-11T01:54:32.548" v="32" actId="113"/>
        <pc:sldMkLst>
          <pc:docMk/>
          <pc:sldMk cId="0" sldId="256"/>
        </pc:sldMkLst>
        <pc:spChg chg="mod">
          <ac:chgData name="frederick walker" userId="2e88f26ebad291f4" providerId="LiveId" clId="{798D439B-82FC-4FC9-9E6D-A3C32146FF02}" dt="2026-08-11T01:53:53.105" v="12" actId="113"/>
          <ac:spMkLst>
            <pc:docMk/>
            <pc:sldMk cId="0" sldId="256"/>
            <ac:spMk id="4" creationId="{00000000-0000-0000-0000-000000000000}"/>
          </ac:spMkLst>
        </pc:spChg>
        <pc:spChg chg="mod">
          <ac:chgData name="frederick walker" userId="2e88f26ebad291f4" providerId="LiveId" clId="{798D439B-82FC-4FC9-9E6D-A3C32146FF02}" dt="2026-08-11T01:52:38.920" v="1" actId="403"/>
          <ac:spMkLst>
            <pc:docMk/>
            <pc:sldMk cId="0" sldId="256"/>
            <ac:spMk id="17" creationId="{00000000-0000-0000-0000-000000000000}"/>
          </ac:spMkLst>
        </pc:spChg>
        <pc:spChg chg="mod">
          <ac:chgData name="frederick walker" userId="2e88f26ebad291f4" providerId="LiveId" clId="{798D439B-82FC-4FC9-9E6D-A3C32146FF02}" dt="2026-08-11T01:53:21.227" v="10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frederick walker" userId="2e88f26ebad291f4" providerId="LiveId" clId="{798D439B-82FC-4FC9-9E6D-A3C32146FF02}" dt="2026-08-11T01:54:03.333" v="13" actId="113"/>
          <ac:spMkLst>
            <pc:docMk/>
            <pc:sldMk cId="0" sldId="256"/>
            <ac:spMk id="20" creationId="{00000000-0000-0000-0000-000000000000}"/>
          </ac:spMkLst>
        </pc:spChg>
        <pc:spChg chg="mod">
          <ac:chgData name="frederick walker" userId="2e88f26ebad291f4" providerId="LiveId" clId="{798D439B-82FC-4FC9-9E6D-A3C32146FF02}" dt="2026-08-11T01:54:24.887" v="30" actId="20577"/>
          <ac:spMkLst>
            <pc:docMk/>
            <pc:sldMk cId="0" sldId="256"/>
            <ac:spMk id="21" creationId="{00000000-0000-0000-0000-000000000000}"/>
          </ac:spMkLst>
        </pc:spChg>
        <pc:spChg chg="mod">
          <ac:chgData name="frederick walker" userId="2e88f26ebad291f4" providerId="LiveId" clId="{798D439B-82FC-4FC9-9E6D-A3C32146FF02}" dt="2026-08-11T01:54:13.781" v="15" actId="113"/>
          <ac:spMkLst>
            <pc:docMk/>
            <pc:sldMk cId="0" sldId="256"/>
            <ac:spMk id="22" creationId="{00000000-0000-0000-0000-000000000000}"/>
          </ac:spMkLst>
        </pc:spChg>
        <pc:spChg chg="mod">
          <ac:chgData name="frederick walker" userId="2e88f26ebad291f4" providerId="LiveId" clId="{798D439B-82FC-4FC9-9E6D-A3C32146FF02}" dt="2026-08-11T01:54:29.714" v="31" actId="113"/>
          <ac:spMkLst>
            <pc:docMk/>
            <pc:sldMk cId="0" sldId="256"/>
            <ac:spMk id="23" creationId="{00000000-0000-0000-0000-000000000000}"/>
          </ac:spMkLst>
        </pc:spChg>
        <pc:spChg chg="mod">
          <ac:chgData name="frederick walker" userId="2e88f26ebad291f4" providerId="LiveId" clId="{798D439B-82FC-4FC9-9E6D-A3C32146FF02}" dt="2026-08-11T01:54:32.548" v="32" actId="113"/>
          <ac:spMkLst>
            <pc:docMk/>
            <pc:sldMk cId="0" sldId="256"/>
            <ac:spMk id="24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6:33.539" v="122" actId="403"/>
        <pc:sldMkLst>
          <pc:docMk/>
          <pc:sldMk cId="0" sldId="257"/>
        </pc:sldMkLst>
        <pc:spChg chg="mod">
          <ac:chgData name="frederick walker" userId="2e88f26ebad291f4" providerId="LiveId" clId="{798D439B-82FC-4FC9-9E6D-A3C32146FF02}" dt="2026-08-11T02:06:33.539" v="122" actId="403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1:58.184" v="94" actId="403"/>
        <pc:sldMkLst>
          <pc:docMk/>
          <pc:sldMk cId="0" sldId="258"/>
        </pc:sldMkLst>
        <pc:spChg chg="mod">
          <ac:chgData name="frederick walker" userId="2e88f26ebad291f4" providerId="LiveId" clId="{798D439B-82FC-4FC9-9E6D-A3C32146FF02}" dt="2026-08-11T02:01:58.184" v="94" actId="403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0:22.003" v="92" actId="403"/>
        <pc:sldMkLst>
          <pc:docMk/>
          <pc:sldMk cId="0" sldId="259"/>
        </pc:sldMkLst>
        <pc:spChg chg="mod">
          <ac:chgData name="frederick walker" userId="2e88f26ebad291f4" providerId="LiveId" clId="{798D439B-82FC-4FC9-9E6D-A3C32146FF02}" dt="2026-08-11T02:00:22.003" v="92" actId="403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0:07.667" v="90" actId="403"/>
        <pc:sldMkLst>
          <pc:docMk/>
          <pc:sldMk cId="0" sldId="260"/>
        </pc:sldMkLst>
        <pc:spChg chg="mod">
          <ac:chgData name="frederick walker" userId="2e88f26ebad291f4" providerId="LiveId" clId="{798D439B-82FC-4FC9-9E6D-A3C32146FF02}" dt="2026-08-11T02:00:07.667" v="90" actId="403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2:23.733" v="99" actId="403"/>
        <pc:sldMkLst>
          <pc:docMk/>
          <pc:sldMk cId="0" sldId="261"/>
        </pc:sldMkLst>
        <pc:spChg chg="mod">
          <ac:chgData name="frederick walker" userId="2e88f26ebad291f4" providerId="LiveId" clId="{798D439B-82FC-4FC9-9E6D-A3C32146FF02}" dt="2026-08-11T02:02:23.733" v="99" actId="403"/>
          <ac:spMkLst>
            <pc:docMk/>
            <pc:sldMk cId="0" sldId="261"/>
            <ac:spMk id="6" creationId="{00000000-0000-0000-0000-000000000000}"/>
          </ac:spMkLst>
        </pc:spChg>
      </pc:sldChg>
      <pc:sldChg chg="addSp delSp modSp mod">
        <pc:chgData name="frederick walker" userId="2e88f26ebad291f4" providerId="LiveId" clId="{798D439B-82FC-4FC9-9E6D-A3C32146FF02}" dt="2026-08-11T02:02:34.928" v="101" actId="403"/>
        <pc:sldMkLst>
          <pc:docMk/>
          <pc:sldMk cId="0" sldId="262"/>
        </pc:sldMkLst>
        <pc:spChg chg="add del mod">
          <ac:chgData name="frederick walker" userId="2e88f26ebad291f4" providerId="LiveId" clId="{798D439B-82FC-4FC9-9E6D-A3C32146FF02}" dt="2026-08-11T01:58:31.931" v="81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frederick walker" userId="2e88f26ebad291f4" providerId="LiveId" clId="{798D439B-82FC-4FC9-9E6D-A3C32146FF02}" dt="2026-08-11T02:02:34.928" v="101" actId="403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6:04.395" v="120" actId="403"/>
        <pc:sldMkLst>
          <pc:docMk/>
          <pc:sldMk cId="0" sldId="263"/>
        </pc:sldMkLst>
        <pc:spChg chg="mod">
          <ac:chgData name="frederick walker" userId="2e88f26ebad291f4" providerId="LiveId" clId="{798D439B-82FC-4FC9-9E6D-A3C32146FF02}" dt="2026-08-11T02:06:04.395" v="120" actId="403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5:55.819" v="118" actId="403"/>
        <pc:sldMkLst>
          <pc:docMk/>
          <pc:sldMk cId="0" sldId="264"/>
        </pc:sldMkLst>
        <pc:spChg chg="mod">
          <ac:chgData name="frederick walker" userId="2e88f26ebad291f4" providerId="LiveId" clId="{798D439B-82FC-4FC9-9E6D-A3C32146FF02}" dt="2026-08-11T02:05:55.819" v="118" actId="403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17:00:48.710" v="123" actId="403"/>
        <pc:sldMkLst>
          <pc:docMk/>
          <pc:sldMk cId="0" sldId="265"/>
        </pc:sldMkLst>
        <pc:spChg chg="mod">
          <ac:chgData name="frederick walker" userId="2e88f26ebad291f4" providerId="LiveId" clId="{798D439B-82FC-4FC9-9E6D-A3C32146FF02}" dt="2026-08-11T17:00:48.710" v="123" actId="403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5:36.632" v="115" actId="403"/>
        <pc:sldMkLst>
          <pc:docMk/>
          <pc:sldMk cId="0" sldId="266"/>
        </pc:sldMkLst>
        <pc:spChg chg="mod">
          <ac:chgData name="frederick walker" userId="2e88f26ebad291f4" providerId="LiveId" clId="{798D439B-82FC-4FC9-9E6D-A3C32146FF02}" dt="2026-08-11T02:05:36.632" v="115" actId="403"/>
          <ac:spMkLst>
            <pc:docMk/>
            <pc:sldMk cId="0" sldId="266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4:22.860" v="103" actId="403"/>
        <pc:sldMkLst>
          <pc:docMk/>
          <pc:sldMk cId="0" sldId="267"/>
        </pc:sldMkLst>
        <pc:spChg chg="mod">
          <ac:chgData name="frederick walker" userId="2e88f26ebad291f4" providerId="LiveId" clId="{798D439B-82FC-4FC9-9E6D-A3C32146FF02}" dt="2026-08-11T02:04:22.860" v="103" actId="403"/>
          <ac:spMkLst>
            <pc:docMk/>
            <pc:sldMk cId="0" sldId="267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4:31.505" v="105" actId="403"/>
        <pc:sldMkLst>
          <pc:docMk/>
          <pc:sldMk cId="0" sldId="268"/>
        </pc:sldMkLst>
        <pc:spChg chg="mod">
          <ac:chgData name="frederick walker" userId="2e88f26ebad291f4" providerId="LiveId" clId="{798D439B-82FC-4FC9-9E6D-A3C32146FF02}" dt="2026-08-11T02:04:31.505" v="105" actId="403"/>
          <ac:spMkLst>
            <pc:docMk/>
            <pc:sldMk cId="0" sldId="268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4:47.151" v="107" actId="403"/>
        <pc:sldMkLst>
          <pc:docMk/>
          <pc:sldMk cId="0" sldId="269"/>
        </pc:sldMkLst>
        <pc:spChg chg="mod">
          <ac:chgData name="frederick walker" userId="2e88f26ebad291f4" providerId="LiveId" clId="{798D439B-82FC-4FC9-9E6D-A3C32146FF02}" dt="2026-08-11T02:04:47.151" v="107" actId="403"/>
          <ac:spMkLst>
            <pc:docMk/>
            <pc:sldMk cId="0" sldId="269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5:05.275" v="111" actId="14100"/>
        <pc:sldMkLst>
          <pc:docMk/>
          <pc:sldMk cId="0" sldId="270"/>
        </pc:sldMkLst>
        <pc:spChg chg="mod">
          <ac:chgData name="frederick walker" userId="2e88f26ebad291f4" providerId="LiveId" clId="{798D439B-82FC-4FC9-9E6D-A3C32146FF02}" dt="2026-08-11T02:05:05.275" v="111" actId="14100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frederick walker" userId="2e88f26ebad291f4" providerId="LiveId" clId="{798D439B-82FC-4FC9-9E6D-A3C32146FF02}" dt="2026-08-11T02:05:12.490" v="113" actId="403"/>
        <pc:sldMkLst>
          <pc:docMk/>
          <pc:sldMk cId="0" sldId="271"/>
        </pc:sldMkLst>
        <pc:spChg chg="mod">
          <ac:chgData name="frederick walker" userId="2e88f26ebad291f4" providerId="LiveId" clId="{798D439B-82FC-4FC9-9E6D-A3C32146FF02}" dt="2026-08-11T02:05:12.490" v="113" actId="403"/>
          <ac:spMkLst>
            <pc:docMk/>
            <pc:sldMk cId="0" sldId="271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424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8FA"/>
                </a:solidFill>
                <a:latin typeface="Aptos Display"/>
              </a:defRPr>
            </a:pPr>
            <a:r>
              <a:t>How Can We Build an AI Agent</a:t>
            </a:r>
            <a:br/>
            <a:r>
              <a:t>for Facial Recognition?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3555" y="2572154"/>
            <a:ext cx="500790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BEAA"/>
                </a:solidFill>
                <a:latin typeface="Aptos"/>
              </a:defRPr>
            </a:pPr>
            <a:r>
              <a:rPr sz="2400" b="1" dirty="0"/>
              <a:t>Software Engineering Technology •</a:t>
            </a:r>
            <a:endParaRPr lang="en-CA" sz="2400" b="1" dirty="0"/>
          </a:p>
          <a:p>
            <a:pPr>
              <a:defRPr sz="1800">
                <a:solidFill>
                  <a:srgbClr val="00BEAA"/>
                </a:solidFill>
                <a:latin typeface="Aptos"/>
              </a:defRPr>
            </a:pPr>
            <a:r>
              <a:rPr sz="2400" b="1" dirty="0"/>
              <a:t> Group One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77639"/>
            <a:ext cx="2926080" cy="105156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977639"/>
            <a:ext cx="64008" cy="1051560"/>
          </a:xfrm>
          <a:prstGeom prst="rect">
            <a:avLst/>
          </a:prstGeom>
          <a:solidFill>
            <a:srgbClr val="40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142231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617720"/>
            <a:ext cx="2514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AI agent + facial recognition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3977639"/>
            <a:ext cx="2926080" cy="105156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77639" y="3977639"/>
            <a:ext cx="64008" cy="105156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4142231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617720"/>
            <a:ext cx="2514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Python • HTML • CSS •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977639"/>
            <a:ext cx="2926080" cy="105156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3977639"/>
            <a:ext cx="64008" cy="1051560"/>
          </a:xfrm>
          <a:prstGeom prst="rect">
            <a:avLst/>
          </a:prstGeom>
          <a:solidFill>
            <a:srgbClr val="0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60920" y="4142231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4617720"/>
            <a:ext cx="25146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A working recognition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20440"/>
            <a:ext cx="26405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EAA"/>
                </a:solidFill>
                <a:latin typeface="Aptos"/>
              </a:defRPr>
            </a:pPr>
            <a:r>
              <a:rPr sz="1600" dirty="0"/>
              <a:t>COURSE CODE: COMP.120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3945635"/>
            <a:ext cx="10835640" cy="2057400"/>
          </a:xfrm>
          <a:prstGeom prst="rect">
            <a:avLst/>
          </a:prstGeom>
          <a:solidFill>
            <a:srgbClr val="0B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0507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BEAA"/>
                </a:solidFill>
                <a:latin typeface="Aptos"/>
              </a:defRPr>
            </a:pPr>
            <a:r>
              <a:rPr dirty="0"/>
              <a:t>GROUP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282641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8FA"/>
                </a:solidFill>
                <a:latin typeface="Aptos"/>
              </a:defRPr>
            </a:pPr>
            <a:r>
              <a:rPr b="1" dirty="0"/>
              <a:t>• Frederick Kwame Attitsogbui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28031"/>
            <a:ext cx="145719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8FA"/>
                </a:solidFill>
                <a:latin typeface="Aptos"/>
              </a:defRPr>
            </a:pPr>
            <a:r>
              <a:rPr b="1" dirty="0"/>
              <a:t>• Prince </a:t>
            </a:r>
            <a:r>
              <a:rPr lang="en-CA" b="1" dirty="0"/>
              <a:t> </a:t>
            </a:r>
            <a:r>
              <a:rPr lang="en-CA" b="1" dirty="0" err="1"/>
              <a:t>madu</a:t>
            </a:r>
            <a:endParaRPr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914400" y="5221224"/>
            <a:ext cx="165096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8FA"/>
                </a:solidFill>
                <a:latin typeface="Aptos"/>
              </a:defRPr>
            </a:pPr>
            <a:r>
              <a:rPr b="1" dirty="0"/>
              <a:t>• Oluwadamilola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434840"/>
            <a:ext cx="140904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8FA"/>
                </a:solidFill>
                <a:latin typeface="Aptos"/>
              </a:defRPr>
            </a:pPr>
            <a:r>
              <a:rPr b="1" dirty="0"/>
              <a:t>• Sahil </a:t>
            </a:r>
            <a:r>
              <a:rPr b="1" dirty="0" err="1"/>
              <a:t>Badery</a:t>
            </a:r>
            <a:endParaRPr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6126480" y="4828031"/>
            <a:ext cx="145533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5F8FA"/>
                </a:solidFill>
                <a:latin typeface="Aptos"/>
              </a:defRPr>
            </a:pPr>
            <a:r>
              <a:rPr b="1" dirty="0"/>
              <a:t>• </a:t>
            </a:r>
            <a:r>
              <a:rPr b="1" dirty="0" err="1"/>
              <a:t>Seeyar</a:t>
            </a:r>
            <a:r>
              <a:rPr b="1" dirty="0"/>
              <a:t> Kakar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What Is an AI Agent?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65040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A program that perceives input, makes decisions, and performs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74720" cy="329184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3291840"/>
          </a:xfrm>
          <a:prstGeom prst="rect">
            <a:avLst/>
          </a:prstGeom>
          <a:solidFill>
            <a:srgbClr val="40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Perceive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306323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Receives image or video input and detects relevant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474720" cy="329184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64008" cy="329184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391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14600"/>
            <a:ext cx="306323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Processes the input and determines what the system should do next.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74720" cy="329184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64008" cy="3291840"/>
          </a:xfrm>
          <a:prstGeom prst="rect">
            <a:avLst/>
          </a:prstGeom>
          <a:solidFill>
            <a:srgbClr val="0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0391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14600"/>
            <a:ext cx="306323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Returns a result such as a recognition label, confidence score, or alert.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Face Detection vs. Face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38279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Two different stages of the same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166360" cy="342900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3429000"/>
          </a:xfrm>
          <a:prstGeom prst="rect">
            <a:avLst/>
          </a:prstGeom>
          <a:solidFill>
            <a:srgbClr val="40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1 • Face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Finds where a face appears in an image or video frame.</a:t>
            </a:r>
            <a:br/>
            <a:br/>
            <a:r>
              <a:t>Output: face location / bounding box.</a:t>
            </a:r>
            <a:br/>
            <a:br/>
            <a:r>
              <a:t>It does not identify the person.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166360" cy="342900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64008" cy="3429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99339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2 • Face 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Determines who the person is by comparing a face representation with known identities.</a:t>
            </a:r>
            <a:br/>
            <a:br/>
            <a:r>
              <a:t>Output: closest match and confidence.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How Face Recognition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59634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The system turns a detected face into a numerical representation.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011680" cy="1143000"/>
          </a:xfrm>
          <a:prstGeom prst="roundRect">
            <a:avLst/>
          </a:prstGeom>
          <a:solidFill>
            <a:srgbClr val="192B42"/>
          </a:solidFill>
          <a:ln>
            <a:solidFill>
              <a:srgbClr val="40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2496312"/>
            <a:ext cx="1865376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Image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Camera frame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2651760"/>
            <a:ext cx="347472" cy="384048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62072" y="2331720"/>
            <a:ext cx="2011680" cy="114300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35224" y="2496312"/>
            <a:ext cx="1865376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Detect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Find face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19472" y="2651760"/>
            <a:ext cx="347472" cy="384048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21224" y="2331720"/>
            <a:ext cx="2011680" cy="114300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94376" y="2496312"/>
            <a:ext cx="1865376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Embed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Create vector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78624" y="2651760"/>
            <a:ext cx="347472" cy="384048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80375" y="2331720"/>
            <a:ext cx="2011680" cy="114300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53527" y="2496312"/>
            <a:ext cx="1865376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Compare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Match vector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37776" y="2651760"/>
            <a:ext cx="347472" cy="384048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939528" y="2331720"/>
            <a:ext cx="2011680" cy="1143000"/>
          </a:xfrm>
          <a:prstGeom prst="roundRect">
            <a:avLst/>
          </a:prstGeom>
          <a:solidFill>
            <a:srgbClr val="192B42"/>
          </a:solidFill>
          <a:ln>
            <a:solidFill>
              <a:srgbClr val="0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12680" y="2496312"/>
            <a:ext cx="1865376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Result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Identity / no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977639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F8FA"/>
                </a:solidFill>
                <a:latin typeface="Aptos"/>
              </a:defRPr>
            </a:pPr>
            <a:r>
              <a:t>Embeddings are numerical representations that make comparison possible.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High-Level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42846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How the main project components fit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057400" cy="1234440"/>
          </a:xfrm>
          <a:prstGeom prst="roundRect">
            <a:avLst/>
          </a:prstGeom>
          <a:solidFill>
            <a:srgbClr val="192B42"/>
          </a:solidFill>
          <a:ln>
            <a:solidFill>
              <a:srgbClr val="40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2267712"/>
            <a:ext cx="19110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Camera / Image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42032" y="2542032"/>
            <a:ext cx="320040" cy="347472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88920" y="2103120"/>
            <a:ext cx="2057400" cy="123444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62072" y="2267712"/>
            <a:ext cx="19110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HTML + CSS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73752" y="2542032"/>
            <a:ext cx="320040" cy="347472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0" y="2103120"/>
            <a:ext cx="2057400" cy="123444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93792" y="2267712"/>
            <a:ext cx="19110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API Layer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Data exchange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05471" y="2542032"/>
            <a:ext cx="320040" cy="347472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52359" y="2103120"/>
            <a:ext cx="2057400" cy="123444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25511" y="2267712"/>
            <a:ext cx="19110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Python AI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Recognition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37191" y="2542032"/>
            <a:ext cx="320040" cy="347472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784080" y="2103120"/>
            <a:ext cx="2057400" cy="1234440"/>
          </a:xfrm>
          <a:prstGeom prst="roundRect">
            <a:avLst/>
          </a:prstGeom>
          <a:solidFill>
            <a:srgbClr val="192B42"/>
          </a:solidFill>
          <a:ln>
            <a:solidFill>
              <a:srgbClr val="0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57232" y="2267712"/>
            <a:ext cx="1911095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Stored Embeddings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Known identities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• Frontend displays the live camera and results.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• Backend performs image processing and recognition.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  <a:latin typeface="Aptos"/>
              </a:defRPr>
            </a:pPr>
            <a:r>
              <a:t>• APIs connect the interface to backend services.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The Backend Engine: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502862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Python handles image processing and the core AI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383280" cy="196596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4008" cy="1965960"/>
          </a:xfrm>
          <a:prstGeom prst="rect">
            <a:avLst/>
          </a:prstGeom>
          <a:solidFill>
            <a:srgbClr val="40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9718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Clean, resize and format raw image data before recognition.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80"/>
            <a:ext cx="3383280" cy="132588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4069080"/>
            <a:ext cx="64008" cy="132588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Core Libraries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OpenCV • Pillow • NumPy</a:t>
            </a:r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28800"/>
            <a:ext cx="7086600" cy="3794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4419" y="284132"/>
            <a:ext cx="26358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rPr lang="en-CA" sz="1100" dirty="0"/>
              <a:t>FRONTEND:  HTML</a:t>
            </a:r>
            <a:endParaRPr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Generating Face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63657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The AI converts a face into a numerical representation for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rPr dirty="0"/>
              <a:t>• Detect and crop the face.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rPr dirty="0"/>
              <a:t>• Pass the face through a recognition model.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rPr dirty="0"/>
              <a:t>• Generate an embedding vector.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rPr dirty="0"/>
              <a:t>• Compare the vector with stored embeddings.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828800"/>
            <a:ext cx="5715000" cy="3794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rPr dirty="0"/>
              <a:t>AI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Recognition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56329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The closest stored embedding becomes the candidate match.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29000" cy="347472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3474720"/>
          </a:xfrm>
          <a:prstGeom prst="rect">
            <a:avLst/>
          </a:prstGeom>
          <a:solidFill>
            <a:srgbClr val="40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01752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Measure similarity between the new face embedding and stored embeddings.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347472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64008" cy="347472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301752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Accept the match only when similarity meets the system's threshold.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429000" cy="347472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64008" cy="3474720"/>
          </a:xfrm>
          <a:prstGeom prst="rect">
            <a:avLst/>
          </a:prstGeom>
          <a:solidFill>
            <a:srgbClr val="0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Return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301752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Display the identity, confidence score, or an unrecognized status.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rPr dirty="0"/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Frontend Development: 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63003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HTML provides the structure of the facial recognition web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83280" cy="342900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3429000"/>
          </a:xfrm>
          <a:prstGeom prst="rect">
            <a:avLst/>
          </a:prstGeom>
          <a:solidFill>
            <a:srgbClr val="40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Camera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971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The &lt;video&gt; element displays the live camera stream.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342900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64008" cy="3429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Overlay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971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A positioned container allows face boxes and labels to appear over the video.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383280" cy="342900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64008" cy="3429000"/>
          </a:xfrm>
          <a:prstGeom prst="rect">
            <a:avLst/>
          </a:prstGeom>
          <a:solidFill>
            <a:srgbClr val="0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99339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Status 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2971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The interface can show recognition labels and confidence scores.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Frontend Development: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59738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CSS controls layout, overlays and the visual state of the AI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347472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4008" cy="3474720"/>
          </a:xfrm>
          <a:prstGeom prst="rect">
            <a:avLst/>
          </a:prstGeom>
          <a:solidFill>
            <a:srgbClr val="40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Responsive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301752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16:9 aspect ratio keeps the live camera feed aligned across screen sizes.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347472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64008" cy="347472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Bounding Boxes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301752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Absolute positioning places detection boxes directly over 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29000" cy="347472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3474720"/>
          </a:xfrm>
          <a:prstGeom prst="rect">
            <a:avLst/>
          </a:prstGeom>
          <a:solidFill>
            <a:srgbClr val="0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AI States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68880"/>
            <a:ext cx="301752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Verified and unrecognized states can use distinct visual treatments.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Connecting the UI to the AI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65475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The interface receives recognition data and turns it into visible feedback.</a:t>
            </a:r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71500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828800"/>
            <a:ext cx="4754880" cy="109728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828800"/>
            <a:ext cx="64008" cy="1097280"/>
          </a:xfrm>
          <a:prstGeom prst="rect">
            <a:avLst/>
          </a:prstGeom>
          <a:solidFill>
            <a:srgbClr val="40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1993392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Coordinate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468880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Map AI coordinates to CSS top, left, width and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154680"/>
            <a:ext cx="4754880" cy="109728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75120" y="3154680"/>
            <a:ext cx="64008" cy="109728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3319272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Data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794760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Use REST APIs or WebSockets to transfer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480560"/>
            <a:ext cx="4754880" cy="109728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75120" y="4480560"/>
            <a:ext cx="64008" cy="1097280"/>
          </a:xfrm>
          <a:prstGeom prst="rect">
            <a:avLst/>
          </a:prstGeom>
          <a:solidFill>
            <a:srgbClr val="0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4645152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Frontend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120640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HTML5 + CSS3 + Flexbox/Grid + CSS variables.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API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66993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APIs provide the communication layer between the frontend and backend.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342900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4008" cy="3429000"/>
          </a:xfrm>
          <a:prstGeom prst="rect">
            <a:avLst/>
          </a:prstGeom>
          <a:solidFill>
            <a:srgbClr val="40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RESTful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Standard HTTP-based communication using structured requests and responses.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342900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64008" cy="3429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GraphQL / gRPC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Alternative interfaces for structured data access or service-to-service communication.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29000" cy="342900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64008" cy="3429000"/>
          </a:xfrm>
          <a:prstGeom prst="rect">
            <a:avLst/>
          </a:prstGeom>
          <a:solidFill>
            <a:srgbClr val="0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6888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Authentication mechanisms such as API keys or OAuth 2.0 can protect services.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Testing Protocols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66357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Testing verifies that the AI service and APIs behave reliably before release.</a:t>
            </a:r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66928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Contract testing checks API schema compatibility.</a:t>
            </a:r>
          </a:p>
          <a:p>
            <a:pPr>
              <a:spcAft>
                <a:spcPts val="8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Unit and functional tests validate expected behavior.</a:t>
            </a:r>
          </a:p>
          <a:p>
            <a:pPr>
              <a:spcAft>
                <a:spcPts val="8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CI/CD regression checks help catch breaking changes.</a:t>
            </a:r>
          </a:p>
          <a:p>
            <a:pPr>
              <a:spcAft>
                <a:spcPts val="8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Load testing evaluates performance under higher traffic.</a:t>
            </a:r>
          </a:p>
          <a:p>
            <a:pPr>
              <a:spcAft>
                <a:spcPts val="8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t>• Validate status codes, payloads, authentication and latency.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Integrations &amp; Ecosystem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53021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Tools that can support a production-oriented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520440" cy="384048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64008" cy="3840480"/>
          </a:xfrm>
          <a:prstGeom prst="rect">
            <a:avLst/>
          </a:prstGeom>
          <a:solidFill>
            <a:srgbClr val="40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476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REST + OpenAPI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108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Interface and documentation standard</a:t>
            </a:r>
            <a:br/>
            <a:br/>
            <a:r>
              <a:t>• HTTP verbs</a:t>
            </a:r>
            <a:br/>
            <a:r>
              <a:t>• JSON payloads</a:t>
            </a:r>
            <a:br/>
            <a:r>
              <a:t>• Machine-readable contracts</a:t>
            </a:r>
            <a:br/>
            <a:r>
              <a:t>• Interactive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384048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64008" cy="384048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Kong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108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API gateway and traffic management</a:t>
            </a:r>
            <a:br/>
            <a:br/>
            <a:r>
              <a:t>• Authentication</a:t>
            </a:r>
            <a:br/>
            <a:r>
              <a:t>• Rate limiting</a:t>
            </a:r>
            <a:br/>
            <a:r>
              <a:t>• Key management</a:t>
            </a:r>
            <a:br/>
            <a:r>
              <a:t>• Security proxying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83080"/>
            <a:ext cx="3520440" cy="3840480"/>
          </a:xfrm>
          <a:prstGeom prst="roundRect">
            <a:avLst/>
          </a:prstGeom>
          <a:solidFill>
            <a:srgbClr val="192B42"/>
          </a:solidFill>
          <a:ln>
            <a:solidFill>
              <a:srgbClr val="2D4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783080"/>
            <a:ext cx="64008" cy="3840480"/>
          </a:xfrm>
          <a:prstGeom prst="rect">
            <a:avLst/>
          </a:prstGeom>
          <a:solidFill>
            <a:srgbClr val="0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9476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A"/>
                </a:solidFill>
                <a:latin typeface="Aptos"/>
              </a:defRPr>
            </a:pPr>
            <a:r>
              <a:t>Apache 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108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t>Event streaming and distributed messaging</a:t>
            </a:r>
            <a:br/>
            <a:br/>
            <a:r>
              <a:t>• Real-time pipelines</a:t>
            </a:r>
            <a:br/>
            <a:r>
              <a:t>• Asynchronous services</a:t>
            </a:r>
            <a:br/>
            <a:r>
              <a:t>• Fault tolerance</a:t>
            </a:r>
            <a:br/>
            <a:r>
              <a:t>• Event replay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End-to-End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7" y="1261872"/>
            <a:ext cx="52713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Putting the frontend, API layer and AI model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286000"/>
            <a:ext cx="1481328" cy="1325880"/>
          </a:xfrm>
          <a:prstGeom prst="roundRect">
            <a:avLst/>
          </a:prstGeom>
          <a:solidFill>
            <a:srgbClr val="192B42"/>
          </a:solidFill>
          <a:ln>
            <a:solidFill>
              <a:srgbClr val="40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2450592"/>
            <a:ext cx="13350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Camera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37943" y="2743200"/>
            <a:ext cx="228600" cy="292608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993392" y="2286000"/>
            <a:ext cx="1481328" cy="132588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66544" y="2450592"/>
            <a:ext cx="13350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HTML/CSS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11296" y="2743200"/>
            <a:ext cx="228600" cy="292608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66744" y="2286000"/>
            <a:ext cx="1481328" cy="132588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9896" y="2450592"/>
            <a:ext cx="13350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API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Send data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84648" y="2743200"/>
            <a:ext cx="228600" cy="292608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40096" y="2286000"/>
            <a:ext cx="1481328" cy="132588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13248" y="2450592"/>
            <a:ext cx="13350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Python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58000" y="2743200"/>
            <a:ext cx="228600" cy="292608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13448" y="2286000"/>
            <a:ext cx="1481328" cy="132588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2450592"/>
            <a:ext cx="13350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Embedding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Represent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31352" y="2743200"/>
            <a:ext cx="228600" cy="292608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86800" y="2286000"/>
            <a:ext cx="1481328" cy="1325880"/>
          </a:xfrm>
          <a:prstGeom prst="roundRect">
            <a:avLst/>
          </a:prstGeom>
          <a:solidFill>
            <a:srgbClr val="192B42"/>
          </a:solidFill>
          <a:ln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59952" y="2450592"/>
            <a:ext cx="13350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Database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204704" y="2743200"/>
            <a:ext cx="228600" cy="292608"/>
          </a:xfrm>
          <a:prstGeom prst="rightArrow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360152" y="2286000"/>
            <a:ext cx="1481328" cy="1325880"/>
          </a:xfrm>
          <a:prstGeom prst="roundRect">
            <a:avLst/>
          </a:prstGeom>
          <a:solidFill>
            <a:srgbClr val="192B42"/>
          </a:solidFill>
          <a:ln>
            <a:solidFill>
              <a:srgbClr val="0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33304" y="2450592"/>
            <a:ext cx="1335024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Result</a:t>
            </a:r>
          </a:p>
          <a:p>
            <a:pPr algn="ctr">
              <a:defRPr sz="950">
                <a:solidFill>
                  <a:srgbClr val="A6B5C4"/>
                </a:solidFill>
                <a:latin typeface="Aptos"/>
              </a:defRPr>
            </a:pPr>
            <a:r>
              <a:t>Show 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976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  <a:latin typeface="Aptos"/>
              </a:defRPr>
            </a:pPr>
            <a:r>
              <a:t>• The key idea is separation of responsibilities: UI displays, APIs communicate, and Python performs recognition.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BEA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6B5C4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61872"/>
            <a:ext cx="62859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6B5C4"/>
                </a:solidFill>
                <a:latin typeface="Aptos"/>
              </a:defRPr>
            </a:pPr>
            <a:r>
              <a:rPr sz="1600" dirty="0"/>
              <a:t>The project combines AI, software engineering and web technologies.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8FA"/>
                </a:solidFill>
                <a:latin typeface="Aptos"/>
              </a:defRPr>
            </a:pPr>
            <a:r>
              <a:t>• Face detection locates faces; recognition identifies them.</a:t>
            </a:r>
          </a:p>
          <a:p>
            <a:pPr>
              <a:spcAft>
                <a:spcPts val="1000"/>
              </a:spcAft>
              <a:defRPr sz="1800">
                <a:solidFill>
                  <a:srgbClr val="F5F8FA"/>
                </a:solidFill>
                <a:latin typeface="Aptos"/>
              </a:defRPr>
            </a:pPr>
            <a:r>
              <a:t>• Embeddings provide a numerical representation for comparison.</a:t>
            </a:r>
          </a:p>
          <a:p>
            <a:pPr>
              <a:spcAft>
                <a:spcPts val="1000"/>
              </a:spcAft>
              <a:defRPr sz="1800">
                <a:solidFill>
                  <a:srgbClr val="F5F8FA"/>
                </a:solidFill>
                <a:latin typeface="Aptos"/>
              </a:defRPr>
            </a:pPr>
            <a:r>
              <a:t>• Python handles the core image and recognition processing.</a:t>
            </a:r>
          </a:p>
          <a:p>
            <a:pPr>
              <a:spcAft>
                <a:spcPts val="1000"/>
              </a:spcAft>
              <a:defRPr sz="1800">
                <a:solidFill>
                  <a:srgbClr val="F5F8FA"/>
                </a:solidFill>
                <a:latin typeface="Aptos"/>
              </a:defRPr>
            </a:pPr>
            <a:r>
              <a:t>• HTML and CSS provide the real-time user interface.</a:t>
            </a:r>
          </a:p>
          <a:p>
            <a:pPr>
              <a:spcAft>
                <a:spcPts val="1000"/>
              </a:spcAft>
              <a:defRPr sz="1800">
                <a:solidFill>
                  <a:srgbClr val="F5F8FA"/>
                </a:solidFill>
                <a:latin typeface="Aptos"/>
              </a:defRPr>
            </a:pPr>
            <a:r>
              <a:t>• APIs connect the frontend to backend services.</a:t>
            </a:r>
          </a:p>
          <a:p>
            <a:pPr>
              <a:spcAft>
                <a:spcPts val="1000"/>
              </a:spcAft>
              <a:defRPr sz="1800">
                <a:solidFill>
                  <a:srgbClr val="F5F8FA"/>
                </a:solidFill>
                <a:latin typeface="Aptos"/>
              </a:defRPr>
            </a:pPr>
            <a:r>
              <a:t>• Testing protects reliability, security and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5F8F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8346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BEAA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6B5C4"/>
                </a:solidFill>
                <a:latin typeface="Aptos"/>
              </a:defRPr>
            </a:pPr>
            <a:r>
              <a:t>Software Engineering Technology • Group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6473952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A6B5C4"/>
                </a:solidFill>
                <a:latin typeface="Aptos"/>
              </a:defRPr>
            </a:pPr>
            <a:r>
              <a:t>COMP.120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1100</Words>
  <Application>Microsoft Office PowerPoint</Application>
  <PresentationFormat>Widescreen</PresentationFormat>
  <Paragraphs>215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frederick walker</cp:lastModifiedBy>
  <cp:revision>1</cp:revision>
  <dcterms:created xsi:type="dcterms:W3CDTF">2013-01-27T09:14:16Z</dcterms:created>
  <dcterms:modified xsi:type="dcterms:W3CDTF">2026-08-11T17:01:00Z</dcterms:modified>
  <cp:category/>
</cp:coreProperties>
</file>